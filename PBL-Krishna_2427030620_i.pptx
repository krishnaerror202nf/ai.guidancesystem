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868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8D91-3031-4FAE-8C7F-26FB35B6438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48FC-FFA3-4010-AAD8-0FE769774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81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2729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991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8922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7249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8D91-3031-4FAE-8C7F-26FB35B6438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48FC-FFA3-4010-AAD8-0FE769774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39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516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3735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9141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3813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5725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26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578DCF-DB3D-41F6-2609-249ECCEF0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594" y="2971026"/>
            <a:ext cx="7564582" cy="1152561"/>
          </a:xfrm>
        </p:spPr>
        <p:txBody>
          <a:bodyPr>
            <a:noAutofit/>
          </a:bodyPr>
          <a:lstStyle/>
          <a:p>
            <a:pPr algn="ctr"/>
            <a:endParaRPr lang="en-US" cap="none" dirty="0"/>
          </a:p>
          <a:p>
            <a:pPr algn="ctr"/>
            <a:endParaRPr lang="en-IN" cap="none" dirty="0"/>
          </a:p>
          <a:p>
            <a:pPr algn="ctr"/>
            <a:endParaRPr lang="en-IN" cap="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52A87-8C04-7A78-9EF2-16539C41EDB6}"/>
              </a:ext>
            </a:extLst>
          </p:cNvPr>
          <p:cNvSpPr txBox="1"/>
          <p:nvPr/>
        </p:nvSpPr>
        <p:spPr>
          <a:xfrm>
            <a:off x="1141752" y="3574153"/>
            <a:ext cx="6684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00">
                <a:solidFill>
                  <a:srgbClr val="3C3C3C"/>
                </a:solidFill>
              </a:defRPr>
            </a:pPr>
            <a:r>
              <a:rPr lang="en-IN" sz="1200" b="1" dirty="0"/>
              <a:t>Name</a:t>
            </a:r>
            <a:r>
              <a:rPr lang="en-IN" sz="1200" dirty="0"/>
              <a:t>: Krishna Gehlot    |    </a:t>
            </a:r>
            <a:r>
              <a:rPr lang="en-IN" sz="1200" b="1" dirty="0"/>
              <a:t>Reg. No</a:t>
            </a:r>
            <a:r>
              <a:rPr lang="en-IN" sz="1200" dirty="0"/>
              <a:t>: 2427030620    |    </a:t>
            </a:r>
            <a:r>
              <a:rPr lang="en-IN" sz="1200" b="1" dirty="0"/>
              <a:t>Sec</a:t>
            </a:r>
            <a:r>
              <a:rPr lang="en-IN" sz="1200" dirty="0"/>
              <a:t> - </a:t>
            </a:r>
            <a:r>
              <a:rPr lang="en-I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</a:t>
            </a:r>
          </a:p>
        </p:txBody>
      </p:sp>
      <p:pic>
        <p:nvPicPr>
          <p:cNvPr id="2" name="Picture 1" descr="A black and white text">
            <a:extLst>
              <a:ext uri="{FF2B5EF4-FFF2-40B4-BE49-F238E27FC236}">
                <a16:creationId xmlns:a16="http://schemas.microsoft.com/office/drawing/2014/main" id="{7726F4E3-081D-0DBE-1566-170DD10AB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5" y="102855"/>
            <a:ext cx="3130529" cy="917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93B2F-FE49-C3D7-487D-DDB2832DF60B}"/>
              </a:ext>
            </a:extLst>
          </p:cNvPr>
          <p:cNvSpPr txBox="1"/>
          <p:nvPr/>
        </p:nvSpPr>
        <p:spPr>
          <a:xfrm>
            <a:off x="3550175" y="3910552"/>
            <a:ext cx="249569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Supervised By</a:t>
            </a:r>
            <a:r>
              <a:rPr lang="en-IN" sz="1350" dirty="0"/>
              <a:t>:  </a:t>
            </a:r>
            <a:r>
              <a:rPr lang="en-IN" sz="1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Surbhi Sharma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A5083-6209-FB52-675E-22F30A239AC2}"/>
              </a:ext>
            </a:extLst>
          </p:cNvPr>
          <p:cNvSpPr/>
          <p:nvPr/>
        </p:nvSpPr>
        <p:spPr>
          <a:xfrm>
            <a:off x="1561339" y="1778460"/>
            <a:ext cx="6320790" cy="1152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AI-Enhanced Career Guidance System for Personalized Career </a:t>
            </a:r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35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3A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this project about?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choose careers — guidance is generic, limited, and often inaccurate.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C74000"/>
          </a:solidFill>
          <a:ln w="12700">
            <a:solidFill>
              <a:srgbClr val="C74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analyses student data and recommends personalised career pathways.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A03300"/>
          </a:solidFill>
          <a:ln w="12700">
            <a:solidFill>
              <a:srgbClr val="A03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accurate predictions using XGBoost — tested on 395  student records.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E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is career guidance broken?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0515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105156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 Too Generic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advice for every student — ignores skills, interests &amp; strengths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14800" cy="10515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73152" cy="105156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 Hard to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counselors aren't available to all students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114800" cy="10515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23160"/>
            <a:ext cx="73152" cy="105156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 No Real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based on intuition, not evidence or job market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4114800" cy="10515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23160"/>
            <a:ext cx="73152" cy="105156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 Scalability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Counselors can handle limited students — AI scales to thousands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4114800" cy="10515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11880"/>
            <a:ext cx="73152" cy="105156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  Career Mismatch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matching leads to regret, job switching &amp; low satisfaction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114800" cy="10515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611880"/>
            <a:ext cx="73152" cy="105156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❻  Outdated Info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lack real-time data on emerging career opportunities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611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3A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set out to 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280160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2801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student academic &amp; career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02920" cy="50292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1965960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1143000" y="19659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We applied four machine learning techniques to assess overall model effectiveness. </a:t>
            </a:r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502920" cy="50292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2651760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651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Accuracy, Precision, Recall, F1-Score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502920" cy="50292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3337560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3375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careers using the best model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502920" cy="50292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5840" y="4023360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0233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accessible, scalable AI guidance system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E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data did we use?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FF7A2F">
              <a:alpha val="80000"/>
            </a:srgbClr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student-mat.csv   —   395 student records   —   Source: Kaggle   —   Target: G3 (Final Grade)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4320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age, address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74320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C74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737360"/>
            <a:ext cx="2743200" cy="347472"/>
          </a:xfrm>
          <a:prstGeom prst="rect">
            <a:avLst/>
          </a:prstGeom>
          <a:solidFill>
            <a:srgbClr val="C74000"/>
          </a:solidFill>
          <a:ln w="12700">
            <a:solidFill>
              <a:srgbClr val="C74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internet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737360"/>
            <a:ext cx="274320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A03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37360"/>
            <a:ext cx="2743200" cy="347472"/>
          </a:xfrm>
          <a:prstGeom prst="rect">
            <a:avLst/>
          </a:prstGeom>
          <a:solidFill>
            <a:srgbClr val="A03300"/>
          </a:solidFill>
          <a:ln w="12700">
            <a:solidFill>
              <a:srgbClr val="A03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Info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parents' education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occupation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274320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7A2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200400"/>
            <a:ext cx="2743200" cy="347472"/>
          </a:xfrm>
          <a:prstGeom prst="rect">
            <a:avLst/>
          </a:prstGeom>
          <a:solidFill>
            <a:srgbClr val="7A2000"/>
          </a:solidFill>
          <a:ln w="12700">
            <a:solidFill>
              <a:srgbClr val="7A2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369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(Period 1)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(Period 2)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74320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C74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200400"/>
            <a:ext cx="2743200" cy="347472"/>
          </a:xfrm>
          <a:prstGeom prst="rect">
            <a:avLst/>
          </a:prstGeom>
          <a:solidFill>
            <a:srgbClr val="C74000"/>
          </a:solidFill>
          <a:ln w="12700">
            <a:solidFill>
              <a:srgbClr val="C74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2369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absences, failures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3200400"/>
            <a:ext cx="2743200" cy="132588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200400"/>
            <a:ext cx="2743200" cy="34747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2369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Target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— Final Grade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(Predicted)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3A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models tested — XGBoost wins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926080" cy="45720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1828800" cy="45720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1828800" cy="45720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6916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69164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169164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691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350008"/>
            <a:ext cx="2926080" cy="594360"/>
          </a:xfrm>
          <a:prstGeom prst="rect">
            <a:avLst/>
          </a:prstGeom>
          <a:solidFill>
            <a:srgbClr val="FAF4F0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35000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2350008"/>
            <a:ext cx="1828800" cy="594360"/>
          </a:xfrm>
          <a:prstGeom prst="rect">
            <a:avLst/>
          </a:prstGeom>
          <a:solidFill>
            <a:srgbClr val="FAF4F0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23500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2350008"/>
            <a:ext cx="1828800" cy="594360"/>
          </a:xfrm>
          <a:prstGeom prst="rect">
            <a:avLst/>
          </a:prstGeom>
          <a:solidFill>
            <a:srgbClr val="FAF4F0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3500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2350008"/>
            <a:ext cx="2011680" cy="594360"/>
          </a:xfrm>
          <a:prstGeom prst="rect">
            <a:avLst/>
          </a:prstGeom>
          <a:solidFill>
            <a:srgbClr val="FAF4F0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2350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00837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0" y="300837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00837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3008376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00837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0" y="3008376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300837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3666744"/>
            <a:ext cx="2926080" cy="594360"/>
          </a:xfrm>
          <a:prstGeom prst="rect">
            <a:avLst/>
          </a:prstGeom>
          <a:solidFill>
            <a:srgbClr val="FFE8D6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66674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★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200400" y="3666744"/>
            <a:ext cx="1828800" cy="594360"/>
          </a:xfrm>
          <a:prstGeom prst="rect">
            <a:avLst/>
          </a:prstGeom>
          <a:solidFill>
            <a:srgbClr val="FFE8D6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366674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029200" y="3666744"/>
            <a:ext cx="1828800" cy="594360"/>
          </a:xfrm>
          <a:prstGeom prst="rect">
            <a:avLst/>
          </a:prstGeom>
          <a:solidFill>
            <a:srgbClr val="FFE8D6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66674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858000" y="3666744"/>
            <a:ext cx="2011680" cy="594360"/>
          </a:xfrm>
          <a:prstGeom prst="rect">
            <a:avLst/>
          </a:prstGeom>
          <a:solidFill>
            <a:srgbClr val="FFE8D6"/>
          </a:solidFill>
          <a:ln w="6350">
            <a:solidFill>
              <a:srgbClr val="E0C4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36667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E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steps to clean &amp; prepare the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48640" cy="5486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0" cy="201168"/>
          </a:xfrm>
          <a:prstGeom prst="line">
            <a:avLst/>
          </a:prstGeom>
          <a:noFill/>
          <a:ln w="25400">
            <a:solidFill>
              <a:srgbClr val="FF7A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188720"/>
            <a:ext cx="7772400" cy="5943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16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904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G1, G2, study time, absences, health, higher-ed intent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548640" cy="5486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0" cy="201168"/>
          </a:xfrm>
          <a:prstGeom prst="line">
            <a:avLst/>
          </a:prstGeom>
          <a:noFill/>
          <a:ln w="25400">
            <a:solidFill>
              <a:srgbClr val="FF7A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938528"/>
            <a:ext cx="7772400" cy="5943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2402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'yes/no' values to 1/0 for ML compatibility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548640" cy="5486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88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0" cy="201168"/>
          </a:xfrm>
          <a:prstGeom prst="line">
            <a:avLst/>
          </a:prstGeom>
          <a:noFill/>
          <a:ln w="25400">
            <a:solidFill>
              <a:srgbClr val="FF7A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688336"/>
            <a:ext cx="7772400" cy="5943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Imbalance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9900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SMOTE to create synthetic samples for rare grade classes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548640" cy="5486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381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4005072"/>
            <a:ext cx="0" cy="201168"/>
          </a:xfrm>
          <a:prstGeom prst="line">
            <a:avLst/>
          </a:prstGeom>
          <a:noFill/>
          <a:ln w="25400">
            <a:solidFill>
              <a:srgbClr val="FF7A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438144"/>
            <a:ext cx="7772400" cy="5943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7398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 /  20% testing split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548640" cy="5486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5840" y="4187952"/>
            <a:ext cx="7772400" cy="59436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4897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all features to the same range with StandardScaler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Model: XGBoost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3A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XGBoost? Why these settings?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on structured tabular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048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complex, non-linear patterns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1181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with L1 &amp; L2 regularization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8313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 with 2nd-order gradients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188720"/>
            <a:ext cx="4297680" cy="411480"/>
          </a:xfrm>
          <a:prstGeom prst="rect">
            <a:avLst/>
          </a:prstGeom>
          <a:solidFill>
            <a:srgbClr val="A03300"/>
          </a:solidFill>
          <a:ln w="12700">
            <a:solidFill>
              <a:srgbClr val="A03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161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Used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114800" cy="594360"/>
          </a:xfrm>
          <a:prstGeom prst="rect">
            <a:avLst/>
          </a:prstGeom>
          <a:solidFill>
            <a:srgbClr val="FFF8F4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28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728216"/>
            <a:ext cx="822960" cy="2743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282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04872"/>
            <a:ext cx="4114800" cy="594360"/>
          </a:xfrm>
          <a:prstGeom prst="rect">
            <a:avLst/>
          </a:prstGeom>
          <a:solidFill>
            <a:srgbClr val="FFF8F4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41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441448"/>
            <a:ext cx="822960" cy="2743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4414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724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 limit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18104"/>
            <a:ext cx="4114800" cy="594360"/>
          </a:xfrm>
          <a:prstGeom prst="rect">
            <a:avLst/>
          </a:prstGeom>
          <a:solidFill>
            <a:srgbClr val="FFF8F4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1546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154680"/>
            <a:ext cx="822960" cy="2743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154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4381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it learns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831336"/>
            <a:ext cx="4114800" cy="594360"/>
          </a:xfrm>
          <a:prstGeom prst="rect">
            <a:avLst/>
          </a:prstGeom>
          <a:solidFill>
            <a:srgbClr val="FFF8F4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867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eval_metric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3867912"/>
            <a:ext cx="822960" cy="274320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8679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mlogloss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41513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scoring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E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achieved excellent performance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645920"/>
          </a:xfrm>
          <a:prstGeom prst="rect">
            <a:avLst/>
          </a:prstGeom>
          <a:solidFill>
            <a:srgbClr val="2A1200"/>
          </a:solidFill>
          <a:ln w="25400">
            <a:solidFill>
              <a:srgbClr val="FF7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1920240" cy="1645920"/>
          </a:xfrm>
          <a:prstGeom prst="rect">
            <a:avLst/>
          </a:prstGeom>
          <a:solidFill>
            <a:srgbClr val="2A1200"/>
          </a:solidFill>
          <a:ln w="25400">
            <a:solidFill>
              <a:srgbClr val="FF7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26864" y="1097280"/>
            <a:ext cx="1920240" cy="1645920"/>
          </a:xfrm>
          <a:prstGeom prst="rect">
            <a:avLst/>
          </a:prstGeom>
          <a:solidFill>
            <a:srgbClr val="2A1200"/>
          </a:solidFill>
          <a:ln w="25400">
            <a:solidFill>
              <a:srgbClr val="FF7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26864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03136" y="1097280"/>
            <a:ext cx="1920240" cy="1645920"/>
          </a:xfrm>
          <a:prstGeom prst="rect">
            <a:avLst/>
          </a:prstGeom>
          <a:solidFill>
            <a:srgbClr val="2A1200"/>
          </a:solidFill>
          <a:ln w="25400">
            <a:solidFill>
              <a:srgbClr val="FF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188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03136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8595360" cy="192024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&amp; G2 (past grades) are the strongest predictors of career readiness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habits and attendance significantly affect outcomes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Micro-average AUC exceeded 0.95 — excellent multi-class discrimination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3A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does this mean &amp; what are the limits?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2743200" cy="457200"/>
          </a:xfrm>
          <a:prstGeom prst="rect">
            <a:avLst/>
          </a:prstGeom>
          <a:solidFill>
            <a:srgbClr val="1E7B2A"/>
          </a:solidFill>
          <a:ln w="12700">
            <a:solidFill>
              <a:srgbClr val="1E7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16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Applications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for at-risk students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395728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957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 paths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054096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0540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career counselling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712464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712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allocation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216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37360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395 student records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395728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3957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feature set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054096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0540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updates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3712464"/>
            <a:ext cx="2560320" cy="566928"/>
          </a:xfrm>
          <a:prstGeom prst="rect">
            <a:avLst/>
          </a:prstGeom>
          <a:solidFill>
            <a:srgbClr val="FFF8F4"/>
          </a:solidFill>
          <a:ln w="12700">
            <a:solidFill>
              <a:srgbClr val="EDD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712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fit all institutions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1216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27648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27648" y="30540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27648" y="3712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E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achieved and where we go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029200" cy="64008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16152"/>
            <a:ext cx="411480" cy="41148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hit ~95% accuracy on grade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8353" y="2249424"/>
            <a:ext cx="5029200" cy="64008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422" y="2354580"/>
            <a:ext cx="411480" cy="41148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422" y="23710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310463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fixed class imbalance effectively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38144"/>
            <a:ext cx="5029200" cy="640080"/>
          </a:xfrm>
          <a:prstGeom prst="rect">
            <a:avLst/>
          </a:prstGeom>
          <a:solidFill>
            <a:srgbClr val="2A1200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465576"/>
            <a:ext cx="411480" cy="41148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65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465576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grades (G1, G2) proved strongest predictors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188720"/>
            <a:ext cx="3291840" cy="3383280"/>
          </a:xfrm>
          <a:prstGeom prst="rect">
            <a:avLst/>
          </a:prstGeom>
          <a:solidFill>
            <a:srgbClr val="2A1200"/>
          </a:solidFill>
          <a:ln w="25400">
            <a:solidFill>
              <a:srgbClr val="FF7A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1188720"/>
            <a:ext cx="3291840" cy="411480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2161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16916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diverse dataset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21671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comparison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6426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1181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interface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35935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Chen &amp; Guestrin (2016). XGBoost: A Scalable Tree Boosting System. ACM SIGKDD.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27632"/>
            <a:ext cx="64008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276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Chawla et al. (2002). SMOTE: Synthetic Minority Over-sampling Technique. JAIR, 16.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32304"/>
            <a:ext cx="64008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3230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Cortez &amp; Silva (2008). Using Data Mining to Predict Student Performance. FBTC.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36976"/>
            <a:ext cx="64008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369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Han, Kamber &amp; Pei (2011). Data Mining: Concepts &amp; Techniques. Morgan Kaufmann.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4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041648"/>
            <a:ext cx="64008" cy="658368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416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Fernandes et al. (2019). Educational data mining: Predictive analysis. JBR, 94.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" y="2358444"/>
            <a:ext cx="3943350" cy="9941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Thank You!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768</Words>
  <Application>Microsoft Office PowerPoint</Application>
  <PresentationFormat>On-screen Show (16:9)</PresentationFormat>
  <Paragraphs>181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 gehlot</cp:lastModifiedBy>
  <cp:revision>4</cp:revision>
  <dcterms:created xsi:type="dcterms:W3CDTF">2026-04-12T13:41:29Z</dcterms:created>
  <dcterms:modified xsi:type="dcterms:W3CDTF">2026-04-12T14:06:59Z</dcterms:modified>
</cp:coreProperties>
</file>